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3474720" cy="5070348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0" y="73152"/>
            <a:ext cx="365760" cy="5070348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640080"/>
            <a:ext cx="914400" cy="594360"/>
          </a:xfrm>
          <a:prstGeom prst="rect">
            <a:avLst>
              <a:gd name="adj" fmla="val 7692"/>
            </a:avLst>
          </a:prstGeom>
          <a:solidFill>
            <a:srgbClr val="0078D4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64008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CI/CD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1463040"/>
            <a:ext cx="914400" cy="594360"/>
          </a:xfrm>
          <a:prstGeom prst="rect">
            <a:avLst>
              <a:gd name="adj" fmla="val 7692"/>
            </a:avLst>
          </a:prstGeom>
          <a:solidFill>
            <a:srgbClr val="00B4D8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146304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ACR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74320" y="2286000"/>
            <a:ext cx="914400" cy="594360"/>
          </a:xfrm>
          <a:prstGeom prst="rect">
            <a:avLst>
              <a:gd name="adj" fmla="val 7692"/>
            </a:avLst>
          </a:prstGeom>
          <a:solidFill>
            <a:srgbClr val="E8832A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228600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SonarQube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4320" y="3108960"/>
            <a:ext cx="914400" cy="594360"/>
          </a:xfrm>
          <a:prstGeom prst="rect">
            <a:avLst>
              <a:gd name="adj" fmla="val 7692"/>
            </a:avLst>
          </a:prstGeom>
          <a:solidFill>
            <a:srgbClr val="FF6B35"/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" y="310896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Approve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749040" y="822960"/>
            <a:ext cx="5120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PetClinic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3749040" y="1508760"/>
            <a:ext cx="5120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50A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DevOps Pipeline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3749040" y="214884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SonarQube Analysis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3749040" y="2788920"/>
            <a:ext cx="4846320" cy="36576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17" name="Text 15"/>
          <p:cNvSpPr/>
          <p:nvPr/>
        </p:nvSpPr>
        <p:spPr>
          <a:xfrm>
            <a:off x="3749040" y="292608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Once • Promote Many • Secure at Every Stage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749040" y="3566160"/>
            <a:ext cx="960120" cy="347472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19" name="Text 17"/>
          <p:cNvSpPr/>
          <p:nvPr/>
        </p:nvSpPr>
        <p:spPr>
          <a:xfrm>
            <a:off x="3749040" y="3566160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0ABF1"/>
                </a:solidFill>
              </a:rPr>
              <a:t>Multi-Stage Pipeline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4800600" y="3566160"/>
            <a:ext cx="960120" cy="347472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21" name="Text 19"/>
          <p:cNvSpPr/>
          <p:nvPr/>
        </p:nvSpPr>
        <p:spPr>
          <a:xfrm>
            <a:off x="4800600" y="3566160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0ABF1"/>
                </a:solidFill>
              </a:rPr>
              <a:t>Docker / ACR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5852160" y="3566160"/>
            <a:ext cx="960120" cy="347472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23" name="Text 21"/>
          <p:cNvSpPr/>
          <p:nvPr/>
        </p:nvSpPr>
        <p:spPr>
          <a:xfrm>
            <a:off x="5852160" y="3566160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0ABF1"/>
                </a:solidFill>
              </a:rPr>
              <a:t>SonarQube SAST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6903720" y="3566160"/>
            <a:ext cx="960120" cy="347472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25" name="Text 23"/>
          <p:cNvSpPr/>
          <p:nvPr/>
        </p:nvSpPr>
        <p:spPr>
          <a:xfrm>
            <a:off x="6903720" y="3566160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0ABF1"/>
                </a:solidFill>
              </a:rPr>
              <a:t>Manual Gates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7955280" y="3566160"/>
            <a:ext cx="960120" cy="347472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27" name="Text 25"/>
          <p:cNvSpPr/>
          <p:nvPr/>
        </p:nvSpPr>
        <p:spPr>
          <a:xfrm>
            <a:off x="7955280" y="3566160"/>
            <a:ext cx="960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50ABF1"/>
                </a:solidFill>
              </a:rPr>
              <a:t>Azure App Service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0" y="4965192"/>
            <a:ext cx="9144000" cy="18288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29" name="Text 27"/>
          <p:cNvSpPr/>
          <p:nvPr/>
        </p:nvSpPr>
        <p:spPr>
          <a:xfrm>
            <a:off x="0" y="4965192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🚀 DevOps Architecture Overview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Pipeline Overview: The Complete Flow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82880" y="914400"/>
            <a:ext cx="1417320" cy="1005840"/>
          </a:xfrm>
          <a:prstGeom prst="rect">
            <a:avLst/>
          </a:prstGeom>
          <a:solidFill>
            <a:srgbClr val="37474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82880" y="914400"/>
            <a:ext cx="141732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📝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Code Push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(main branch)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600200" y="1380744"/>
            <a:ext cx="164592" cy="73152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7" name="Text 5"/>
          <p:cNvSpPr/>
          <p:nvPr/>
        </p:nvSpPr>
        <p:spPr>
          <a:xfrm>
            <a:off x="1673352" y="128016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8D4"/>
                </a:solidFill>
              </a:rPr>
              <a:t>▶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783080" y="914400"/>
            <a:ext cx="1417320" cy="1005840"/>
          </a:xfrm>
          <a:prstGeom prst="rect">
            <a:avLst/>
          </a:prstGeom>
          <a:solidFill>
            <a:srgbClr val="0078D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783080" y="914400"/>
            <a:ext cx="141732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🔨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BUILD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+ SonarQube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0" y="1380744"/>
            <a:ext cx="164592" cy="73152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11" name="Text 9"/>
          <p:cNvSpPr/>
          <p:nvPr/>
        </p:nvSpPr>
        <p:spPr>
          <a:xfrm>
            <a:off x="3273552" y="128016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8D4"/>
                </a:solidFill>
              </a:rPr>
              <a:t>▶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383280" y="914400"/>
            <a:ext cx="1417320" cy="1005840"/>
          </a:xfrm>
          <a:prstGeom prst="rect">
            <a:avLst/>
          </a:prstGeom>
          <a:solidFill>
            <a:srgbClr val="00B4D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383280" y="914400"/>
            <a:ext cx="141732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🚀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DEPLOY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Dev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00600" y="1380744"/>
            <a:ext cx="164592" cy="73152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15" name="Text 13"/>
          <p:cNvSpPr/>
          <p:nvPr/>
        </p:nvSpPr>
        <p:spPr>
          <a:xfrm>
            <a:off x="4873752" y="128016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8D4"/>
                </a:solidFill>
              </a:rPr>
              <a:t>▶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983480" y="914400"/>
            <a:ext cx="1417320" cy="1005840"/>
          </a:xfrm>
          <a:prstGeom prst="rect">
            <a:avLst/>
          </a:prstGeom>
          <a:solidFill>
            <a:srgbClr val="FF6B35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983480" y="914400"/>
            <a:ext cx="141732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✅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APPROVE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→ Testing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400800" y="1380744"/>
            <a:ext cx="164592" cy="73152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19" name="Text 17"/>
          <p:cNvSpPr/>
          <p:nvPr/>
        </p:nvSpPr>
        <p:spPr>
          <a:xfrm>
            <a:off x="6473952" y="128016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8D4"/>
                </a:solidFill>
              </a:rPr>
              <a:t>▶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583680" y="914400"/>
            <a:ext cx="1417320" cy="1005840"/>
          </a:xfrm>
          <a:prstGeom prst="rect">
            <a:avLst/>
          </a:prstGeom>
          <a:solidFill>
            <a:srgbClr val="7C4D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583680" y="914400"/>
            <a:ext cx="141732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🧪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DEPLOY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Testing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001000" y="1380744"/>
            <a:ext cx="164592" cy="73152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23" name="Text 21"/>
          <p:cNvSpPr/>
          <p:nvPr/>
        </p:nvSpPr>
        <p:spPr>
          <a:xfrm>
            <a:off x="8074152" y="128016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78D4"/>
                </a:solidFill>
              </a:rPr>
              <a:t>▶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315200" y="914400"/>
            <a:ext cx="1417320" cy="1005840"/>
          </a:xfrm>
          <a:prstGeom prst="rect">
            <a:avLst/>
          </a:prstGeom>
          <a:solidFill>
            <a:srgbClr val="FF6B35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315200" y="914400"/>
            <a:ext cx="141732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✅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APPROVE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→ Prod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749040" y="2286000"/>
            <a:ext cx="1645920" cy="1005840"/>
          </a:xfrm>
          <a:prstGeom prst="rect">
            <a:avLst/>
          </a:prstGeom>
          <a:solidFill>
            <a:srgbClr val="43A047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749040" y="2286000"/>
            <a:ext cx="1645920" cy="10058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🏭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DEPLOY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Production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297680" y="20574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6B35"/>
                </a:solidFill>
              </a:rPr>
              <a:t>▼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3840480" y="201168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6B35"/>
                </a:solidFill>
              </a:rPr>
              <a:t>Prod Approval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0" y="3474720"/>
            <a:ext cx="9144000" cy="45720"/>
          </a:xfrm>
          <a:prstGeom prst="rect">
            <a:avLst/>
          </a:prstGeom>
          <a:solidFill>
            <a:srgbClr val="B0BEC5"/>
          </a:solidFill>
          <a:ln/>
        </p:spPr>
      </p:sp>
      <p:sp>
        <p:nvSpPr>
          <p:cNvPr id="31" name="Text 29"/>
          <p:cNvSpPr/>
          <p:nvPr/>
        </p:nvSpPr>
        <p:spPr>
          <a:xfrm>
            <a:off x="182880" y="3611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7474F"/>
                </a:solidFill>
              </a:rPr>
              <a:t>Legend: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1005840" y="3657600"/>
            <a:ext cx="201168" cy="201168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3" name="Text 31"/>
          <p:cNvSpPr/>
          <p:nvPr/>
        </p:nvSpPr>
        <p:spPr>
          <a:xfrm>
            <a:off x="1234440" y="363016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</a:rPr>
              <a:t>Build Stage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2651760" y="3657600"/>
            <a:ext cx="201168" cy="20116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5" name="Text 33"/>
          <p:cNvSpPr/>
          <p:nvPr/>
        </p:nvSpPr>
        <p:spPr>
          <a:xfrm>
            <a:off x="2880360" y="363016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</a:rPr>
              <a:t>Deploy Stage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297680" y="3657600"/>
            <a:ext cx="201168" cy="20116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7" name="Text 35"/>
          <p:cNvSpPr/>
          <p:nvPr/>
        </p:nvSpPr>
        <p:spPr>
          <a:xfrm>
            <a:off x="4526280" y="363016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</a:rPr>
              <a:t>Manual Approval Gate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943600" y="3657600"/>
            <a:ext cx="201168" cy="201168"/>
          </a:xfrm>
          <a:prstGeom prst="rect">
            <a:avLst/>
          </a:prstGeom>
          <a:solidFill>
            <a:srgbClr val="7C4DFF"/>
          </a:solidFill>
          <a:ln/>
        </p:spPr>
      </p:sp>
      <p:sp>
        <p:nvSpPr>
          <p:cNvPr id="39" name="Text 37"/>
          <p:cNvSpPr/>
          <p:nvPr/>
        </p:nvSpPr>
        <p:spPr>
          <a:xfrm>
            <a:off x="6172200" y="363016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</a:rPr>
              <a:t>Test Stage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7589520" y="3657600"/>
            <a:ext cx="201168" cy="201168"/>
          </a:xfrm>
          <a:prstGeom prst="rect">
            <a:avLst/>
          </a:prstGeom>
          <a:solidFill>
            <a:srgbClr val="43A047"/>
          </a:solidFill>
          <a:ln/>
        </p:spPr>
      </p:sp>
      <p:sp>
        <p:nvSpPr>
          <p:cNvPr id="41" name="Text 39"/>
          <p:cNvSpPr/>
          <p:nvPr/>
        </p:nvSpPr>
        <p:spPr>
          <a:xfrm>
            <a:off x="7818120" y="363016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</a:rPr>
              <a:t>Production Stage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182880" y="4114800"/>
            <a:ext cx="8778240" cy="868680"/>
          </a:xfrm>
          <a:prstGeom prst="rect">
            <a:avLst/>
          </a:prstGeom>
          <a:solidFill>
            <a:srgbClr val="0F346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320040" y="4160520"/>
            <a:ext cx="8503920" cy="777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💡  Key Principle: "Build Once, Promote Many" — The Docker image is built ONCE in the Build stage, then the SAME image is promoted (copied) from Dev ACR → Test ACR → Prod ACR. This guarantees what you test is exactly what goes to production.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Trigger &amp; Pool Configuration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82880" y="822960"/>
            <a:ext cx="3931920" cy="41148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5" name="Text 3"/>
          <p:cNvSpPr/>
          <p:nvPr/>
        </p:nvSpPr>
        <p:spPr>
          <a:xfrm>
            <a:off x="182880" y="82296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TRIGGER CONFIGURATION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82880" y="1417320"/>
            <a:ext cx="548640" cy="54864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7" name="Text 5"/>
          <p:cNvSpPr/>
          <p:nvPr/>
        </p:nvSpPr>
        <p:spPr>
          <a:xfrm>
            <a:off x="18288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👨‍💻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777240" y="1435608"/>
            <a:ext cx="3291840" cy="51206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68680" y="1435608"/>
            <a:ext cx="320040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3460"/>
                </a:solidFill>
              </a:rPr>
              <a:t>Developer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68680" y="1673352"/>
            <a:ext cx="320040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</a:rPr>
              <a:t>Writes code in feature branch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74320" y="19659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78D4"/>
                </a:solidFill>
              </a:rPr>
              <a:t>▼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82880" y="2221992"/>
            <a:ext cx="548640" cy="54864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13" name="Text 11"/>
          <p:cNvSpPr/>
          <p:nvPr/>
        </p:nvSpPr>
        <p:spPr>
          <a:xfrm>
            <a:off x="182880" y="2221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🔀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77240" y="2240280"/>
            <a:ext cx="3291840" cy="51206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68680" y="2240280"/>
            <a:ext cx="320040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3460"/>
                </a:solidFill>
              </a:rPr>
              <a:t>git push / PR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68680" y="2478024"/>
            <a:ext cx="320040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</a:rPr>
              <a:t>Merges code into main branch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74320" y="27706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78D4"/>
                </a:solidFill>
              </a:rPr>
              <a:t>▼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82880" y="3026664"/>
            <a:ext cx="548640" cy="54864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19" name="Text 17"/>
          <p:cNvSpPr/>
          <p:nvPr/>
        </p:nvSpPr>
        <p:spPr>
          <a:xfrm>
            <a:off x="182880" y="302666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⚡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77240" y="3044952"/>
            <a:ext cx="3291840" cy="51206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68680" y="3044952"/>
            <a:ext cx="320040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3460"/>
                </a:solidFill>
              </a:rPr>
              <a:t>Auto Trigger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68680" y="3282696"/>
            <a:ext cx="320040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</a:rPr>
              <a:t>Pipeline starts automatically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74320" y="357530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78D4"/>
                </a:solidFill>
              </a:rPr>
              <a:t>▼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82880" y="3831336"/>
            <a:ext cx="548640" cy="54864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25" name="Text 23"/>
          <p:cNvSpPr/>
          <p:nvPr/>
        </p:nvSpPr>
        <p:spPr>
          <a:xfrm>
            <a:off x="182880" y="383133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🔨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777240" y="3849624"/>
            <a:ext cx="3291840" cy="512064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868680" y="3849624"/>
            <a:ext cx="320040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3460"/>
                </a:solidFill>
              </a:rPr>
              <a:t>Build Stage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68680" y="4087368"/>
            <a:ext cx="3200400" cy="256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</a:rPr>
              <a:t>Maven build + Docker image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182880" y="4709160"/>
            <a:ext cx="3931920" cy="228600"/>
          </a:xfrm>
          <a:prstGeom prst="rect">
            <a:avLst/>
          </a:prstGeom>
          <a:solidFill>
            <a:srgbClr val="37474F"/>
          </a:solidFill>
          <a:ln/>
        </p:spPr>
      </p:sp>
      <p:sp>
        <p:nvSpPr>
          <p:cNvPr id="30" name="Text 28"/>
          <p:cNvSpPr/>
          <p:nvPr/>
        </p:nvSpPr>
        <p:spPr>
          <a:xfrm>
            <a:off x="274320" y="47091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EC5"/>
                </a:solidFill>
              </a:rPr>
              <a:t>azure-pipeline.yaml snippet: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846320" y="822960"/>
            <a:ext cx="4023360" cy="4114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2" name="Text 30"/>
          <p:cNvSpPr/>
          <p:nvPr/>
        </p:nvSpPr>
        <p:spPr>
          <a:xfrm>
            <a:off x="4846320" y="82296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AGENT POOL CONFIGURATION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029200" y="1371600"/>
            <a:ext cx="356616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5303520" y="14173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☁️</a:t>
            </a:r>
            <a:endParaRPr lang="en-US" sz="3200" dirty="0"/>
          </a:p>
        </p:txBody>
      </p:sp>
      <p:sp>
        <p:nvSpPr>
          <p:cNvPr id="35" name="Text 33"/>
          <p:cNvSpPr/>
          <p:nvPr/>
        </p:nvSpPr>
        <p:spPr>
          <a:xfrm>
            <a:off x="6035040" y="15087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3460"/>
                </a:solidFill>
              </a:rPr>
              <a:t>Microsoft-Hosted Agent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035040" y="18288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78D4"/>
                </a:solidFill>
              </a:rPr>
              <a:t>ubuntu-latest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166360" y="2240280"/>
            <a:ext cx="164592" cy="164592"/>
          </a:xfrm>
          <a:prstGeom prst="rect">
            <a:avLst/>
          </a:prstGeom>
          <a:solidFill>
            <a:srgbClr val="43A047"/>
          </a:solidFill>
          <a:ln/>
        </p:spPr>
      </p:sp>
      <p:sp>
        <p:nvSpPr>
          <p:cNvPr id="38" name="Text 36"/>
          <p:cNvSpPr/>
          <p:nvPr/>
        </p:nvSpPr>
        <p:spPr>
          <a:xfrm>
            <a:off x="5166360" y="224028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376672" y="224028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</a:rPr>
              <a:t>Ubuntu Linux VM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166360" y="2459736"/>
            <a:ext cx="164592" cy="164592"/>
          </a:xfrm>
          <a:prstGeom prst="rect">
            <a:avLst/>
          </a:prstGeom>
          <a:solidFill>
            <a:srgbClr val="43A047"/>
          </a:solidFill>
          <a:ln/>
        </p:spPr>
      </p:sp>
      <p:sp>
        <p:nvSpPr>
          <p:cNvPr id="41" name="Text 39"/>
          <p:cNvSpPr/>
          <p:nvPr/>
        </p:nvSpPr>
        <p:spPr>
          <a:xfrm>
            <a:off x="5166360" y="245973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376672" y="2459736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</a:rPr>
              <a:t>Java 17 (JDK)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166360" y="2679192"/>
            <a:ext cx="164592" cy="164592"/>
          </a:xfrm>
          <a:prstGeom prst="rect">
            <a:avLst/>
          </a:prstGeom>
          <a:solidFill>
            <a:srgbClr val="43A047"/>
          </a:solidFill>
          <a:ln/>
        </p:spPr>
      </p:sp>
      <p:sp>
        <p:nvSpPr>
          <p:cNvPr id="44" name="Text 42"/>
          <p:cNvSpPr/>
          <p:nvPr/>
        </p:nvSpPr>
        <p:spPr>
          <a:xfrm>
            <a:off x="5166360" y="267919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376672" y="2679192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</a:rPr>
              <a:t>Maven Build Tool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166360" y="2898648"/>
            <a:ext cx="164592" cy="164592"/>
          </a:xfrm>
          <a:prstGeom prst="rect">
            <a:avLst/>
          </a:prstGeom>
          <a:solidFill>
            <a:srgbClr val="43A047"/>
          </a:solidFill>
          <a:ln/>
        </p:spPr>
      </p:sp>
      <p:sp>
        <p:nvSpPr>
          <p:cNvPr id="47" name="Text 45"/>
          <p:cNvSpPr/>
          <p:nvPr/>
        </p:nvSpPr>
        <p:spPr>
          <a:xfrm>
            <a:off x="5166360" y="2898648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376672" y="289864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</a:rPr>
              <a:t>Docker Engine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5166360" y="3118104"/>
            <a:ext cx="164592" cy="164592"/>
          </a:xfrm>
          <a:prstGeom prst="rect">
            <a:avLst/>
          </a:prstGeom>
          <a:solidFill>
            <a:srgbClr val="43A047"/>
          </a:solidFill>
          <a:ln/>
        </p:spPr>
      </p:sp>
      <p:sp>
        <p:nvSpPr>
          <p:cNvPr id="50" name="Text 48"/>
          <p:cNvSpPr/>
          <p:nvPr/>
        </p:nvSpPr>
        <p:spPr>
          <a:xfrm>
            <a:off x="5166360" y="3118104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376672" y="3118104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</a:rPr>
              <a:t>SonarQube Scanner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4846320" y="3520440"/>
            <a:ext cx="4023360" cy="1280160"/>
          </a:xfrm>
          <a:prstGeom prst="rect">
            <a:avLst/>
          </a:prstGeom>
          <a:solidFill>
            <a:srgbClr val="0F346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5029200" y="3566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600"/>
                </a:solidFill>
              </a:rPr>
              <a:t>Why ubuntu-latest?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5029200" y="393192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• Cost effective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• Pre-installed Docker &amp; Java tools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• Fast spin-up (~30 seconds)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• Microsoft-managed, always patched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7C4DFF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Pipeline Variables: Configuration Hub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82880" y="777240"/>
            <a:ext cx="4389120" cy="347472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77724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🔗 Azure Connection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82880" y="1124712"/>
            <a:ext cx="4389120" cy="40233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56032" y="1143000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78D4"/>
                </a:solidFill>
              </a:rPr>
              <a:t>azureServiceConnection: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56032" y="1307592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7474F"/>
                </a:solidFill>
              </a:rPr>
              <a:t>Azure-Subscription-Conn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743200" y="130759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BEC5"/>
                </a:solidFill>
              </a:rPr>
              <a:t>Authorizes all Azure ARM actions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82880" y="1783080"/>
            <a:ext cx="4389120" cy="34747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" y="178308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📱 App Service Names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82880" y="2130552"/>
            <a:ext cx="4389120" cy="40233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56032" y="2148840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4D8"/>
                </a:solidFill>
              </a:rPr>
              <a:t>devAppName: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56032" y="2313432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7474F"/>
                </a:solidFill>
              </a:rPr>
              <a:t>app-petclinic-dev-4ebnal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743200" y="231343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BEC5"/>
                </a:solidFill>
              </a:rPr>
              <a:t>Dev web app name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82880" y="2542032"/>
            <a:ext cx="4389120" cy="40233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56032" y="2560320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4D8"/>
                </a:solidFill>
              </a:rPr>
              <a:t>testAppName: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56032" y="2724912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7474F"/>
                </a:solidFill>
              </a:rPr>
              <a:t>app-petclinic-testing-wery5k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743200" y="272491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BEC5"/>
                </a:solidFill>
              </a:rPr>
              <a:t>Testing web app name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182880" y="2953512"/>
            <a:ext cx="4389120" cy="40233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56032" y="2971800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4D8"/>
                </a:solidFill>
              </a:rPr>
              <a:t>prodAppName: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56032" y="3136392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7474F"/>
                </a:solidFill>
              </a:rPr>
              <a:t>app-petclinic-prod-x7hl53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743200" y="313639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BEC5"/>
                </a:solidFill>
              </a:rPr>
              <a:t>Prod web app name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754880" y="777240"/>
            <a:ext cx="4389120" cy="347472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5" name="Text 23"/>
          <p:cNvSpPr/>
          <p:nvPr/>
        </p:nvSpPr>
        <p:spPr>
          <a:xfrm>
            <a:off x="4846320" y="77724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🐳 ACR (Dev/Test/Prod)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754880" y="1124712"/>
            <a:ext cx="4389120" cy="40233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828032" y="1143000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6B35"/>
                </a:solidFill>
              </a:rPr>
              <a:t>devAcrConnection: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828032" y="1307592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7474F"/>
                </a:solidFill>
              </a:rPr>
              <a:t>dev-acr-service-connection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315200" y="130759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BEC5"/>
                </a:solidFill>
              </a:rPr>
              <a:t>Dev registry auth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754880" y="1536192"/>
            <a:ext cx="4389120" cy="40233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828032" y="1554480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6B35"/>
                </a:solidFill>
              </a:rPr>
              <a:t>devAcrLoginServer: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828032" y="1719072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7474F"/>
                </a:solidFill>
              </a:rPr>
              <a:t>acrpetclinicdev4ebnal.azurecr.io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315200" y="171907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BEC5"/>
                </a:solidFill>
              </a:rPr>
              <a:t>Dev registry URL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754880" y="1947672"/>
            <a:ext cx="4389120" cy="40233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828032" y="1965960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6B35"/>
                </a:solidFill>
              </a:rPr>
              <a:t>testAcrConnection: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828032" y="2130552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7474F"/>
                </a:solidFill>
              </a:rPr>
              <a:t>test-acr-service-connection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7315200" y="213055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BEC5"/>
                </a:solidFill>
              </a:rPr>
              <a:t>Test registry auth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754880" y="2359152"/>
            <a:ext cx="4389120" cy="40233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4828032" y="2377440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6B35"/>
                </a:solidFill>
              </a:rPr>
              <a:t>prodAcrConnection: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828032" y="2542032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7474F"/>
                </a:solidFill>
              </a:rPr>
              <a:t>prod-acr-service-connection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315200" y="254203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BEC5"/>
                </a:solidFill>
              </a:rPr>
              <a:t>Prod registry auth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4754880" y="3291840"/>
            <a:ext cx="4389120" cy="347472"/>
          </a:xfrm>
          <a:prstGeom prst="rect">
            <a:avLst/>
          </a:prstGeom>
          <a:solidFill>
            <a:srgbClr val="E8832A"/>
          </a:solidFill>
          <a:ln/>
        </p:spPr>
      </p:sp>
      <p:sp>
        <p:nvSpPr>
          <p:cNvPr id="43" name="Text 41"/>
          <p:cNvSpPr/>
          <p:nvPr/>
        </p:nvSpPr>
        <p:spPr>
          <a:xfrm>
            <a:off x="4846320" y="329184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🔍 SonarQube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4754880" y="3639312"/>
            <a:ext cx="4389120" cy="40233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4828032" y="3657600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832A"/>
                </a:solidFill>
              </a:rPr>
              <a:t>sonarServiceConnection: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828032" y="3822192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7474F"/>
                </a:solidFill>
              </a:rPr>
              <a:t>sonarqube-service-connection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7315200" y="382219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BEC5"/>
                </a:solidFill>
              </a:rPr>
              <a:t>SonarQube auth token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4754880" y="4050792"/>
            <a:ext cx="4389120" cy="40233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4828032" y="4069080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832A"/>
                </a:solidFill>
              </a:rPr>
              <a:t>sonarProjectKey: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828032" y="4233672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7474F"/>
                </a:solidFill>
              </a:rPr>
              <a:t>petclinic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7315200" y="423367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BEC5"/>
                </a:solidFill>
              </a:rPr>
              <a:t>Project identifier in SonarQube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4754880" y="4462272"/>
            <a:ext cx="4389120" cy="40233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4828032" y="4480560"/>
            <a:ext cx="4206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8832A"/>
                </a:solidFill>
              </a:rPr>
              <a:t>sonarProjectName: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4828032" y="4645152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37474F"/>
                </a:solidFill>
              </a:rPr>
              <a:t>petclinic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7315200" y="464515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B0BEC5"/>
                </a:solidFill>
              </a:rPr>
              <a:t>Display name in dashboard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182880" y="4434840"/>
            <a:ext cx="8778240" cy="59436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57" name="Text 55"/>
          <p:cNvSpPr/>
          <p:nvPr/>
        </p:nvSpPr>
        <p:spPr>
          <a:xfrm>
            <a:off x="320040" y="4462272"/>
            <a:ext cx="8503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⚡  After infrastructure deployment, update these variables to match the unique suffixes generated (e.g. 4ebnal). Each environment gets its OWN ACR to maintain image isolation and audit trail.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37474F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Template Repository: Reusable Pipeline Logic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82880" y="822960"/>
            <a:ext cx="393192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822960"/>
            <a:ext cx="3931920" cy="41148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82296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📦  spring-petclinic  (App Repo)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325880"/>
            <a:ext cx="274320" cy="274320"/>
          </a:xfrm>
          <a:prstGeom prst="rect">
            <a:avLst/>
          </a:prstGeom>
          <a:solidFill>
            <a:srgbClr val="50ABF1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" y="1325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📄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13258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</a:rPr>
              <a:t>azure-pipeline.yaml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" y="1709928"/>
            <a:ext cx="274320" cy="274320"/>
          </a:xfrm>
          <a:prstGeom prst="rect">
            <a:avLst/>
          </a:prstGeom>
          <a:solidFill>
            <a:srgbClr val="50ABF1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" y="17099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📄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170992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</a:rPr>
              <a:t>src/ (Java source code)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" y="2093976"/>
            <a:ext cx="274320" cy="274320"/>
          </a:xfrm>
          <a:prstGeom prst="rect">
            <a:avLst/>
          </a:prstGeom>
          <a:solidFill>
            <a:srgbClr val="50ABF1"/>
          </a:solidFill>
          <a:ln/>
        </p:spPr>
      </p:sp>
      <p:sp>
        <p:nvSpPr>
          <p:cNvPr id="14" name="Text 12"/>
          <p:cNvSpPr/>
          <p:nvPr/>
        </p:nvSpPr>
        <p:spPr>
          <a:xfrm>
            <a:off x="320040" y="20939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📄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" y="2093976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</a:rPr>
              <a:t>pom.xml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2478024"/>
            <a:ext cx="274320" cy="274320"/>
          </a:xfrm>
          <a:prstGeom prst="rect">
            <a:avLst/>
          </a:prstGeom>
          <a:solidFill>
            <a:srgbClr val="50ABF1"/>
          </a:solidFill>
          <a:ln/>
        </p:spPr>
      </p:sp>
      <p:sp>
        <p:nvSpPr>
          <p:cNvPr id="17" name="Text 15"/>
          <p:cNvSpPr/>
          <p:nvPr/>
        </p:nvSpPr>
        <p:spPr>
          <a:xfrm>
            <a:off x="320040" y="247802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📄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40080" y="2478024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</a:rPr>
              <a:t>Dockerfile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2862072"/>
            <a:ext cx="274320" cy="274320"/>
          </a:xfrm>
          <a:prstGeom prst="rect">
            <a:avLst/>
          </a:prstGeom>
          <a:solidFill>
            <a:srgbClr val="50ABF1"/>
          </a:solidFill>
          <a:ln/>
        </p:spPr>
      </p:sp>
      <p:sp>
        <p:nvSpPr>
          <p:cNvPr id="20" name="Text 18"/>
          <p:cNvSpPr/>
          <p:nvPr/>
        </p:nvSpPr>
        <p:spPr>
          <a:xfrm>
            <a:off x="320040" y="286207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📄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0080" y="286207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</a:rPr>
              <a:t>petclinic-infra.json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206240" y="196596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B0BEC5"/>
                </a:solidFill>
              </a:rPr>
              <a:t>references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251960" y="1828800"/>
            <a:ext cx="685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78D4"/>
                </a:solidFill>
              </a:rPr>
              <a:t>➡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5029200" y="822960"/>
            <a:ext cx="393192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029200" y="822960"/>
            <a:ext cx="3931920" cy="411480"/>
          </a:xfrm>
          <a:prstGeom prst="rect">
            <a:avLst/>
          </a:prstGeom>
          <a:solidFill>
            <a:srgbClr val="7C4DFF"/>
          </a:solidFill>
          <a:ln/>
        </p:spPr>
      </p:sp>
      <p:sp>
        <p:nvSpPr>
          <p:cNvPr id="26" name="Text 24"/>
          <p:cNvSpPr/>
          <p:nvPr/>
        </p:nvSpPr>
        <p:spPr>
          <a:xfrm>
            <a:off x="5120640" y="82296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📦  petclinic-pipeline-template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166360" y="1325880"/>
            <a:ext cx="274320" cy="274320"/>
          </a:xfrm>
          <a:prstGeom prst="rect">
            <a:avLst/>
          </a:prstGeom>
          <a:solidFill>
            <a:srgbClr val="7C4DFF"/>
          </a:solidFill>
          <a:ln/>
        </p:spPr>
      </p:sp>
      <p:sp>
        <p:nvSpPr>
          <p:cNvPr id="28" name="Text 26"/>
          <p:cNvSpPr/>
          <p:nvPr/>
        </p:nvSpPr>
        <p:spPr>
          <a:xfrm>
            <a:off x="5166360" y="1325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📄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486400" y="13258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7474F"/>
                </a:solidFill>
              </a:rPr>
              <a:t>build.yaml (Build + SonarQube)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166360" y="1828800"/>
            <a:ext cx="274320" cy="274320"/>
          </a:xfrm>
          <a:prstGeom prst="rect">
            <a:avLst/>
          </a:prstGeom>
          <a:solidFill>
            <a:srgbClr val="7C4DFF"/>
          </a:solidFill>
          <a:ln/>
        </p:spPr>
      </p:sp>
      <p:sp>
        <p:nvSpPr>
          <p:cNvPr id="31" name="Text 29"/>
          <p:cNvSpPr/>
          <p:nvPr/>
        </p:nvSpPr>
        <p:spPr>
          <a:xfrm>
            <a:off x="5166360" y="1828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📄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486400" y="18288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7474F"/>
                </a:solidFill>
              </a:rPr>
              <a:t>deploy.yaml (Deploy + Promote)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166360" y="2331720"/>
            <a:ext cx="274320" cy="274320"/>
          </a:xfrm>
          <a:prstGeom prst="rect">
            <a:avLst/>
          </a:prstGeom>
          <a:solidFill>
            <a:srgbClr val="7C4DFF"/>
          </a:solidFill>
          <a:ln/>
        </p:spPr>
      </p:sp>
      <p:sp>
        <p:nvSpPr>
          <p:cNvPr id="34" name="Text 32"/>
          <p:cNvSpPr/>
          <p:nvPr/>
        </p:nvSpPr>
        <p:spPr>
          <a:xfrm>
            <a:off x="5166360" y="2331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</a:rPr>
              <a:t>📄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486400" y="23317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7474F"/>
                </a:solidFill>
              </a:rPr>
              <a:t>variables.yaml (Shared vars)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029200" y="2834640"/>
            <a:ext cx="3931920" cy="502920"/>
          </a:xfrm>
          <a:prstGeom prst="rect">
            <a:avLst/>
          </a:prstGeom>
          <a:solidFill>
            <a:srgbClr val="FFD600"/>
          </a:solidFill>
          <a:ln/>
        </p:spPr>
      </p:sp>
      <p:sp>
        <p:nvSpPr>
          <p:cNvPr id="37" name="Text 35"/>
          <p:cNvSpPr/>
          <p:nvPr/>
        </p:nvSpPr>
        <p:spPr>
          <a:xfrm>
            <a:off x="5074920" y="2834640"/>
            <a:ext cx="384048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A1628"/>
                </a:solidFill>
              </a:rPr>
              <a:t>⚠️  Branch: master-acr-sonar-cloud (BOTH repos must use this branch!)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182880" y="3566160"/>
            <a:ext cx="8778240" cy="137160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9" name="Text 37"/>
          <p:cNvSpPr/>
          <p:nvPr/>
        </p:nvSpPr>
        <p:spPr>
          <a:xfrm>
            <a:off x="365760" y="358444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</a:rPr>
              <a:t>YAML Template Reference (in azure-pipeline.yaml):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65760" y="3858768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E0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resources: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0E0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repositories: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0E0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- repository: templates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0E0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type: git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0E0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name: Petclinic/petclinic-pipeline-template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90E0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ref: master-acr-sonar-cloud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Stage 1: Build — Maven + SonarQube + Docker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91440" y="822960"/>
            <a:ext cx="1691640" cy="1280160"/>
          </a:xfrm>
          <a:prstGeom prst="rect">
            <a:avLst/>
          </a:prstGeom>
          <a:solidFill>
            <a:srgbClr val="37474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" y="868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📥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" y="129844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Checkout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1440" y="1645920"/>
            <a:ext cx="169164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Clone source code from main branch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783080" y="1325880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78D4"/>
                </a:solidFill>
              </a:rPr>
              <a:t>▶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883664" y="822960"/>
            <a:ext cx="1691640" cy="1280160"/>
          </a:xfrm>
          <a:prstGeom prst="rect">
            <a:avLst/>
          </a:prstGeom>
          <a:solidFill>
            <a:srgbClr val="FF6B35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883664" y="868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249424" y="86868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☕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883664" y="129844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Maven Build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883664" y="1645920"/>
            <a:ext cx="169164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mvn package -DskipTests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Compiles Java, creates JAR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3575304" y="1325880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78D4"/>
                </a:solidFill>
              </a:rPr>
              <a:t>▶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75888" y="822960"/>
            <a:ext cx="1691640" cy="1280160"/>
          </a:xfrm>
          <a:prstGeom prst="rect">
            <a:avLst/>
          </a:prstGeom>
          <a:solidFill>
            <a:srgbClr val="E8832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675888" y="868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041648" y="86868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🔍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3675888" y="129844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SonarQube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Analysis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675888" y="1645920"/>
            <a:ext cx="169164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SAST scan: bugs, vulnerabilities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security hotspots, code smells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5367528" y="1325880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78D4"/>
                </a:solidFill>
              </a:rPr>
              <a:t>▶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68112" y="822960"/>
            <a:ext cx="1691640" cy="1280160"/>
          </a:xfrm>
          <a:prstGeom prst="rect">
            <a:avLst/>
          </a:prstGeom>
          <a:solidFill>
            <a:srgbClr val="FB8C0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468112" y="868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833872" y="86868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🚦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5468112" y="129844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Quality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Gate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468112" y="1645920"/>
            <a:ext cx="169164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SonarQube Quality Gate check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Fails pipeline if gate fails!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7159752" y="1325880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78D4"/>
                </a:solidFill>
              </a:rPr>
              <a:t>▶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260336" y="822960"/>
            <a:ext cx="1691640" cy="1280160"/>
          </a:xfrm>
          <a:prstGeom prst="rect">
            <a:avLst/>
          </a:prstGeom>
          <a:solidFill>
            <a:srgbClr val="00B4D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260336" y="868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626096" y="86868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🐳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7260336" y="129844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Docker Build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&amp; Push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260336" y="1645920"/>
            <a:ext cx="1691640" cy="4389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docker build → tag with BuildId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push to DEV ACR only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182880" y="2331720"/>
            <a:ext cx="4114800" cy="2468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182880" y="2331720"/>
            <a:ext cx="4114800" cy="365760"/>
          </a:xfrm>
          <a:prstGeom prst="rect">
            <a:avLst/>
          </a:prstGeom>
          <a:solidFill>
            <a:srgbClr val="E8832A"/>
          </a:solidFill>
          <a:ln/>
        </p:spPr>
      </p:sp>
      <p:sp>
        <p:nvSpPr>
          <p:cNvPr id="35" name="Text 33"/>
          <p:cNvSpPr/>
          <p:nvPr/>
        </p:nvSpPr>
        <p:spPr>
          <a:xfrm>
            <a:off x="274320" y="23317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🔍  SonarQube Analysis Details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274320" y="2788920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🐛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94360" y="278892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832A"/>
                </a:solidFill>
              </a:rPr>
              <a:t>Bug Detection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965960" y="278892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</a:rPr>
              <a:t>Logic errors in Java code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274320" y="3182112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🔒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594360" y="318211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832A"/>
                </a:solidFill>
              </a:rPr>
              <a:t>Vulnerability Scan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965960" y="31821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</a:rPr>
              <a:t>SQL injection, XSS, etc.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274320" y="3575304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🔥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594360" y="3575304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832A"/>
                </a:solidFill>
              </a:rPr>
              <a:t>Security Hotspots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1965960" y="3575304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</a:rPr>
              <a:t>Code needing security review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274320" y="3968496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💨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594360" y="3968496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832A"/>
                </a:solidFill>
              </a:rPr>
              <a:t>Code Smells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1965960" y="3968496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</a:rPr>
              <a:t>Maintainability issues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274320" y="4361688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📊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594360" y="436168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832A"/>
                </a:solidFill>
              </a:rPr>
              <a:t>Coverage Report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1965960" y="436168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</a:rPr>
              <a:t>Unit test code coverage %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572000" y="2331720"/>
            <a:ext cx="4389120" cy="24688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4572000" y="2331720"/>
            <a:ext cx="4389120" cy="36576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3" name="Text 51"/>
          <p:cNvSpPr/>
          <p:nvPr/>
        </p:nvSpPr>
        <p:spPr>
          <a:xfrm>
            <a:off x="4663440" y="23317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🐳  Docker Build &amp; Push to Dev ACR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4709160" y="278892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3460"/>
                </a:solidFill>
              </a:rPr>
              <a:t>build.yaml template parameters: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4709160" y="309067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jdkVersion: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6629400" y="309067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1.17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4709160" y="3419856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devAcrConnection: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6629400" y="341985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$(devAcrConnection)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4709160" y="374904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imageRepository: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6629400" y="37490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$(imageRepository)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4709160" y="4078224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sonarServiceConnection: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6629400" y="407822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$(sonarServiceConnection)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4709160" y="440740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sonarProjectKey: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6629400" y="440740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$(sonarProjectKey)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Azure Container Registry (ACR): Image Promotion Strategy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283464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77240"/>
            <a:ext cx="2834640" cy="45720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7772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🗄️  DEV ACR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32588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78D4"/>
                </a:solidFill>
              </a:rPr>
              <a:t>Resource Group: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11480" y="153619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74F"/>
                </a:solidFill>
              </a:rPr>
              <a:t>rg-petclinic-dev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11480" y="187452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78D4"/>
                </a:solidFill>
              </a:rPr>
              <a:t>Login Server: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11480" y="208483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74F"/>
                </a:solidFill>
              </a:rPr>
              <a:t>acrpetclinicdev4ebnal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7474F"/>
                </a:solidFill>
              </a:rPr>
              <a:t>.azurecr.io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11480" y="242316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78D4"/>
                </a:solidFill>
              </a:rPr>
              <a:t>Service Conn: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11480" y="263347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74F"/>
                </a:solidFill>
              </a:rPr>
              <a:t>dev-acr-service-connection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11480" y="297180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78D4"/>
                </a:solidFill>
              </a:rPr>
              <a:t>Action: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11480" y="318211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74F"/>
                </a:solidFill>
              </a:rPr>
              <a:t>Built here from source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246120" y="777240"/>
            <a:ext cx="283464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46120" y="777240"/>
            <a:ext cx="2834640" cy="457200"/>
          </a:xfrm>
          <a:prstGeom prst="rect">
            <a:avLst/>
          </a:prstGeom>
          <a:solidFill>
            <a:srgbClr val="7C4DFF"/>
          </a:solidFill>
          <a:ln/>
        </p:spPr>
      </p:sp>
      <p:sp>
        <p:nvSpPr>
          <p:cNvPr id="17" name="Text 15"/>
          <p:cNvSpPr/>
          <p:nvPr/>
        </p:nvSpPr>
        <p:spPr>
          <a:xfrm>
            <a:off x="3337560" y="7772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🗄️  TEST ACR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383280" y="132588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4DFF"/>
                </a:solidFill>
              </a:rPr>
              <a:t>Resource Group: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383280" y="153619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74F"/>
                </a:solidFill>
              </a:rPr>
              <a:t>rg-petclinic-testing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3383280" y="187452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4DFF"/>
                </a:solidFill>
              </a:rPr>
              <a:t>Login Server: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383280" y="208483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74F"/>
                </a:solidFill>
              </a:rPr>
              <a:t>acrpetclinictestingwery5k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7474F"/>
                </a:solidFill>
              </a:rPr>
              <a:t>.azurecr.io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383280" y="242316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4DFF"/>
                </a:solidFill>
              </a:rPr>
              <a:t>Service Conn: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383280" y="263347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74F"/>
                </a:solidFill>
              </a:rPr>
              <a:t>test-acr-service-connection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383280" y="297180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4DFF"/>
                </a:solidFill>
              </a:rPr>
              <a:t>Action: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383280" y="318211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74F"/>
                </a:solidFill>
              </a:rPr>
              <a:t>Promoted from Dev ACR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217920" y="777240"/>
            <a:ext cx="2834640" cy="3108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217920" y="777240"/>
            <a:ext cx="2834640" cy="457200"/>
          </a:xfrm>
          <a:prstGeom prst="rect">
            <a:avLst/>
          </a:prstGeom>
          <a:solidFill>
            <a:srgbClr val="43A047"/>
          </a:solidFill>
          <a:ln/>
        </p:spPr>
      </p:sp>
      <p:sp>
        <p:nvSpPr>
          <p:cNvPr id="28" name="Text 26"/>
          <p:cNvSpPr/>
          <p:nvPr/>
        </p:nvSpPr>
        <p:spPr>
          <a:xfrm>
            <a:off x="6309360" y="7772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🗄️  PROD ACR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355080" y="132588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3A047"/>
                </a:solidFill>
              </a:rPr>
              <a:t>Resource Group: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355080" y="153619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74F"/>
                </a:solidFill>
              </a:rPr>
              <a:t>rg-petclinic-prod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355080" y="187452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3A047"/>
                </a:solidFill>
              </a:rPr>
              <a:t>Login Server: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355080" y="208483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74F"/>
                </a:solidFill>
              </a:rPr>
              <a:t>acrpetclinicprodx7hl53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37474F"/>
                </a:solidFill>
              </a:rPr>
              <a:t>.azurecr.io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355080" y="242316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3A047"/>
                </a:solidFill>
              </a:rPr>
              <a:t>Service Conn: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355080" y="263347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74F"/>
                </a:solidFill>
              </a:rPr>
              <a:t>prod-acr-service-connection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6355080" y="297180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3A047"/>
                </a:solidFill>
              </a:rPr>
              <a:t>Action: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355080" y="318211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74F"/>
                </a:solidFill>
              </a:rPr>
              <a:t>Promoted from Test ACR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3154680" y="201168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6B35"/>
                </a:solidFill>
              </a:rPr>
              <a:t>→  PROMOTE  →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108960" y="1828800"/>
            <a:ext cx="822960" cy="36576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9" name="Text 37"/>
          <p:cNvSpPr/>
          <p:nvPr/>
        </p:nvSpPr>
        <p:spPr>
          <a:xfrm>
            <a:off x="3063240" y="237744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FF6B35"/>
                </a:solidFill>
              </a:rPr>
              <a:t>(After Manual</a:t>
            </a:r>
            <a:endParaRPr lang="en-US" sz="800" dirty="0"/>
          </a:p>
          <a:p>
            <a:pPr algn="ctr" indent="0" marL="0">
              <a:buNone/>
            </a:pPr>
            <a:r>
              <a:rPr lang="en-US" sz="800" i="1" dirty="0">
                <a:solidFill>
                  <a:srgbClr val="FF6B35"/>
                </a:solidFill>
              </a:rPr>
              <a:t>Approval)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144768" y="201168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6B35"/>
                </a:solidFill>
              </a:rPr>
              <a:t>→  PROMOTE  →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108192" y="1828800"/>
            <a:ext cx="822960" cy="36576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42" name="Text 40"/>
          <p:cNvSpPr/>
          <p:nvPr/>
        </p:nvSpPr>
        <p:spPr>
          <a:xfrm>
            <a:off x="6053328" y="237744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FF6B35"/>
                </a:solidFill>
              </a:rPr>
              <a:t>(After Manual</a:t>
            </a:r>
            <a:endParaRPr lang="en-US" sz="800" dirty="0"/>
          </a:p>
          <a:p>
            <a:pPr algn="ctr" indent="0" marL="0">
              <a:buNone/>
            </a:pPr>
            <a:r>
              <a:rPr lang="en-US" sz="800" i="1" dirty="0">
                <a:solidFill>
                  <a:srgbClr val="FF6B35"/>
                </a:solidFill>
              </a:rPr>
              <a:t>Approval)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274320" y="4023360"/>
            <a:ext cx="8778240" cy="86868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44" name="Text 42"/>
          <p:cNvSpPr/>
          <p:nvPr/>
        </p:nvSpPr>
        <p:spPr>
          <a:xfrm>
            <a:off x="457200" y="404164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600"/>
                </a:solidFill>
              </a:rPr>
              <a:t>🏷️  Image Tagging: imageRepository:$(Build.BuildId)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57200" y="4315968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Example: petclinic-app:1234  →  The Build.BuildId (e.g., 1234) is an incremental integer from Azure DevOps. The SAME tag is used across all three ACRs, ensuring traceability from source build to production deployment.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Manual Approval Gates: Human Control Points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82880" y="777240"/>
            <a:ext cx="1828800" cy="731520"/>
          </a:xfrm>
          <a:prstGeom prst="rect">
            <a:avLst/>
          </a:prstGeom>
          <a:solidFill>
            <a:srgbClr val="00B4D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82880" y="777240"/>
            <a:ext cx="182880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Deploy Dev ✅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011680" y="960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6B35"/>
                </a:solidFill>
              </a:rPr>
              <a:t>➡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423160" y="685800"/>
            <a:ext cx="2926080" cy="914400"/>
          </a:xfrm>
          <a:prstGeom prst="rect">
            <a:avLst/>
          </a:prstGeom>
          <a:solidFill>
            <a:srgbClr val="FF6B35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514600" y="704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⏸️  MANUAL GATE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514600" y="9601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FFFF"/>
                </a:solidFill>
              </a:rPr>
              <a:t>ApproveTesting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514600" y="1170432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Validate Dev deployment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Approve promotion to Testing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349240" y="960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6B35"/>
                </a:solidFill>
              </a:rPr>
              <a:t>➡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760720" y="777240"/>
            <a:ext cx="2011680" cy="731520"/>
          </a:xfrm>
          <a:prstGeom prst="rect">
            <a:avLst/>
          </a:prstGeom>
          <a:solidFill>
            <a:srgbClr val="7C4D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760720" y="777240"/>
            <a:ext cx="201168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Deploy Testing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82880" y="2834640"/>
            <a:ext cx="1828800" cy="731520"/>
          </a:xfrm>
          <a:prstGeom prst="rect">
            <a:avLst/>
          </a:prstGeom>
          <a:solidFill>
            <a:srgbClr val="7C4D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82880" y="2834640"/>
            <a:ext cx="182880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Deploy Testing ✅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011680" y="3017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6B35"/>
                </a:solidFill>
              </a:rPr>
              <a:t>➡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2423160" y="2743200"/>
            <a:ext cx="2926080" cy="914400"/>
          </a:xfrm>
          <a:prstGeom prst="rect">
            <a:avLst/>
          </a:prstGeom>
          <a:solidFill>
            <a:srgbClr val="FF6B35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514600" y="27614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⏸️  MANUAL GATE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514600" y="3017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FFFF"/>
                </a:solidFill>
              </a:rPr>
              <a:t>ApproveProd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514600" y="3227832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Confirm Testing sign-off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Approve Production deployment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349240" y="3017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6B35"/>
                </a:solidFill>
              </a:rPr>
              <a:t>➡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5760720" y="2834640"/>
            <a:ext cx="2011680" cy="731520"/>
          </a:xfrm>
          <a:prstGeom prst="rect">
            <a:avLst/>
          </a:prstGeom>
          <a:solidFill>
            <a:srgbClr val="43A047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760720" y="2834640"/>
            <a:ext cx="201168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Deploy Production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2880" y="1828800"/>
            <a:ext cx="877824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82880" y="1828800"/>
            <a:ext cx="73152" cy="77724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184708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35"/>
                </a:solidFill>
              </a:rPr>
              <a:t>⏰  Timeout: 1440 minutes (24 hours)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65760" y="210312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</a:rPr>
              <a:t>If no approval is given within 24 hours, the pipeline stage times out and is marked as failed. This prevents indefinitely pending deployments and keeps the pipeline state clean.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82880" y="3886200"/>
            <a:ext cx="8778240" cy="1051560"/>
          </a:xfrm>
          <a:prstGeom prst="rect">
            <a:avLst/>
          </a:prstGeom>
          <a:solidFill>
            <a:srgbClr val="0F346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365760" y="39136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D600"/>
                </a:solidFill>
              </a:rPr>
              <a:t>🖥️  pool: server  — What does this mean?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65760" y="4206240"/>
            <a:ext cx="8412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Unlike the build job which uses pool: ubuntu-latest (a VM), the approval job uses pool: server. This means it runs on Azure DevOps INTERNAL infrastructure — no VM is spun up, no compute cost. The pipeline simply pauses and waits for a human to click Approve or Reject in the Azure DevOps UI.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Deploy Stage: promoteImage Flag Explained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82880" y="777240"/>
            <a:ext cx="4206240" cy="4114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2880" y="777240"/>
            <a:ext cx="4206240" cy="438912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777240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promoteImage: false  (Dev Deployment)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325880"/>
            <a:ext cx="457200" cy="45720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🔨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22960" y="1325880"/>
            <a:ext cx="347472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</a:rPr>
              <a:t>Build stage already pushed image to Dev ACR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" y="1947672"/>
            <a:ext cx="457200" cy="45720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" y="1947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🔗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2960" y="1947672"/>
            <a:ext cx="347472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</a:rPr>
              <a:t>Deploy uses devAcrConnection to authenticate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" y="2569464"/>
            <a:ext cx="457200" cy="45720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14" name="Text 12"/>
          <p:cNvSpPr/>
          <p:nvPr/>
        </p:nvSpPr>
        <p:spPr>
          <a:xfrm>
            <a:off x="320040" y="25694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📥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2960" y="2569464"/>
            <a:ext cx="347472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</a:rPr>
              <a:t>Pull image: petclinic-app:$(Build.BuildId)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3191256"/>
            <a:ext cx="457200" cy="45720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17" name="Text 15"/>
          <p:cNvSpPr/>
          <p:nvPr/>
        </p:nvSpPr>
        <p:spPr>
          <a:xfrm>
            <a:off x="320040" y="31912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🚀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2960" y="3191256"/>
            <a:ext cx="347472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</a:rPr>
              <a:t>Deploy to Azure Web App (Dev)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3813048"/>
            <a:ext cx="457200" cy="45720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20" name="Text 18"/>
          <p:cNvSpPr/>
          <p:nvPr/>
        </p:nvSpPr>
        <p:spPr>
          <a:xfrm>
            <a:off x="320040" y="3813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22960" y="3813048"/>
            <a:ext cx="347472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</a:rPr>
              <a:t>No copy needed — image already in Dev ACR!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54880" y="777240"/>
            <a:ext cx="4206240" cy="4114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777240"/>
            <a:ext cx="4206240" cy="438912"/>
          </a:xfrm>
          <a:prstGeom prst="rect">
            <a:avLst/>
          </a:prstGeom>
          <a:solidFill>
            <a:srgbClr val="7C4DFF"/>
          </a:solidFill>
          <a:ln/>
        </p:spPr>
      </p:sp>
      <p:sp>
        <p:nvSpPr>
          <p:cNvPr id="24" name="Text 22"/>
          <p:cNvSpPr/>
          <p:nvPr/>
        </p:nvSpPr>
        <p:spPr>
          <a:xfrm>
            <a:off x="4846320" y="777240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promoteImage: true  (Test/Prod Deployment)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92040" y="1325880"/>
            <a:ext cx="457200" cy="457200"/>
          </a:xfrm>
          <a:prstGeom prst="rect">
            <a:avLst/>
          </a:prstGeom>
          <a:solidFill>
            <a:srgbClr val="7C4DFF"/>
          </a:solidFill>
          <a:ln/>
        </p:spPr>
      </p:sp>
      <p:sp>
        <p:nvSpPr>
          <p:cNvPr id="26" name="Text 24"/>
          <p:cNvSpPr/>
          <p:nvPr/>
        </p:nvSpPr>
        <p:spPr>
          <a:xfrm>
            <a:off x="4892040" y="1325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🔐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394960" y="1325880"/>
            <a:ext cx="347472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</a:rPr>
              <a:t>Login to SOURCE ACR (e.g. Dev ACR)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92040" y="1892808"/>
            <a:ext cx="457200" cy="457200"/>
          </a:xfrm>
          <a:prstGeom prst="rect">
            <a:avLst/>
          </a:prstGeom>
          <a:solidFill>
            <a:srgbClr val="7C4DFF"/>
          </a:solidFill>
          <a:ln/>
        </p:spPr>
      </p:sp>
      <p:sp>
        <p:nvSpPr>
          <p:cNvPr id="29" name="Text 27"/>
          <p:cNvSpPr/>
          <p:nvPr/>
        </p:nvSpPr>
        <p:spPr>
          <a:xfrm>
            <a:off x="4892040" y="1892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📥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394960" y="1892808"/>
            <a:ext cx="347472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</a:rPr>
              <a:t>Pull image from source ACR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892040" y="2459736"/>
            <a:ext cx="457200" cy="457200"/>
          </a:xfrm>
          <a:prstGeom prst="rect">
            <a:avLst/>
          </a:prstGeom>
          <a:solidFill>
            <a:srgbClr val="7C4DFF"/>
          </a:solidFill>
          <a:ln/>
        </p:spPr>
      </p:sp>
      <p:sp>
        <p:nvSpPr>
          <p:cNvPr id="32" name="Text 30"/>
          <p:cNvSpPr/>
          <p:nvPr/>
        </p:nvSpPr>
        <p:spPr>
          <a:xfrm>
            <a:off x="4892040" y="24597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🏷️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394960" y="2459736"/>
            <a:ext cx="347472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</a:rPr>
              <a:t>Retag for target ACR login server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892040" y="3026664"/>
            <a:ext cx="457200" cy="457200"/>
          </a:xfrm>
          <a:prstGeom prst="rect">
            <a:avLst/>
          </a:prstGeom>
          <a:solidFill>
            <a:srgbClr val="7C4DFF"/>
          </a:solidFill>
          <a:ln/>
        </p:spPr>
      </p:sp>
      <p:sp>
        <p:nvSpPr>
          <p:cNvPr id="35" name="Text 33"/>
          <p:cNvSpPr/>
          <p:nvPr/>
        </p:nvSpPr>
        <p:spPr>
          <a:xfrm>
            <a:off x="4892040" y="30266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🔐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394960" y="3026664"/>
            <a:ext cx="347472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</a:rPr>
              <a:t>Login to TARGET ACR (e.g. Test ACR)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892040" y="3593592"/>
            <a:ext cx="457200" cy="457200"/>
          </a:xfrm>
          <a:prstGeom prst="rect">
            <a:avLst/>
          </a:prstGeom>
          <a:solidFill>
            <a:srgbClr val="7C4DFF"/>
          </a:solidFill>
          <a:ln/>
        </p:spPr>
      </p:sp>
      <p:sp>
        <p:nvSpPr>
          <p:cNvPr id="38" name="Text 36"/>
          <p:cNvSpPr/>
          <p:nvPr/>
        </p:nvSpPr>
        <p:spPr>
          <a:xfrm>
            <a:off x="4892040" y="35935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📤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5394960" y="3593592"/>
            <a:ext cx="347472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</a:rPr>
              <a:t>Push image to target ACR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892040" y="4160520"/>
            <a:ext cx="457200" cy="457200"/>
          </a:xfrm>
          <a:prstGeom prst="rect">
            <a:avLst/>
          </a:prstGeom>
          <a:solidFill>
            <a:srgbClr val="7C4DFF"/>
          </a:solidFill>
          <a:ln/>
        </p:spPr>
      </p:sp>
      <p:sp>
        <p:nvSpPr>
          <p:cNvPr id="41" name="Text 39"/>
          <p:cNvSpPr/>
          <p:nvPr/>
        </p:nvSpPr>
        <p:spPr>
          <a:xfrm>
            <a:off x="4892040" y="4160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🚀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5394960" y="4160520"/>
            <a:ext cx="347472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74F"/>
                </a:solidFill>
              </a:rPr>
              <a:t>Deploy to Azure Web App (Test/Prod)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43A047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Azure Infrastructure: What Gets Deployed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37160" y="777240"/>
            <a:ext cx="429768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7160" y="777240"/>
            <a:ext cx="4297680" cy="384048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6" name="Text 4"/>
          <p:cNvSpPr/>
          <p:nvPr/>
        </p:nvSpPr>
        <p:spPr>
          <a:xfrm>
            <a:off x="228600" y="77724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📦  rg-petclinic-dev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1252728"/>
            <a:ext cx="201168" cy="201168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125272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78D4"/>
                </a:solidFill>
              </a:rPr>
              <a:t>■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21208" y="125272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74F"/>
                </a:solidFill>
              </a:rPr>
              <a:t>Azure Container Registry (Dev)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" y="1609344"/>
            <a:ext cx="201168" cy="201168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" y="160934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78D4"/>
                </a:solidFill>
              </a:rPr>
              <a:t>■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21208" y="160934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74F"/>
                </a:solidFill>
              </a:rPr>
              <a:t>App Service Plan (Dev)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320" y="1965960"/>
            <a:ext cx="201168" cy="201168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14" name="Text 12"/>
          <p:cNvSpPr/>
          <p:nvPr/>
        </p:nvSpPr>
        <p:spPr>
          <a:xfrm>
            <a:off x="274320" y="196596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78D4"/>
                </a:solidFill>
              </a:rPr>
              <a:t>■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21208" y="19659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74F"/>
                </a:solidFill>
              </a:rPr>
              <a:t>Web App for Containers (Dev)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2322576"/>
            <a:ext cx="201168" cy="201168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17" name="Text 15"/>
          <p:cNvSpPr/>
          <p:nvPr/>
        </p:nvSpPr>
        <p:spPr>
          <a:xfrm>
            <a:off x="274320" y="232257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78D4"/>
                </a:solidFill>
              </a:rPr>
              <a:t>■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21208" y="232257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74F"/>
                </a:solidFill>
              </a:rPr>
              <a:t>PostgreSQL Flexible Server (Dev)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09160" y="777240"/>
            <a:ext cx="429768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777240"/>
            <a:ext cx="4297680" cy="384048"/>
          </a:xfrm>
          <a:prstGeom prst="rect">
            <a:avLst/>
          </a:prstGeom>
          <a:solidFill>
            <a:srgbClr val="7C4DFF"/>
          </a:solidFill>
          <a:ln/>
        </p:spPr>
      </p:sp>
      <p:sp>
        <p:nvSpPr>
          <p:cNvPr id="21" name="Text 19"/>
          <p:cNvSpPr/>
          <p:nvPr/>
        </p:nvSpPr>
        <p:spPr>
          <a:xfrm>
            <a:off x="4800600" y="77724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📦  rg-petclinic-testing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846320" y="1252728"/>
            <a:ext cx="201168" cy="201168"/>
          </a:xfrm>
          <a:prstGeom prst="rect">
            <a:avLst/>
          </a:prstGeom>
          <a:solidFill>
            <a:srgbClr val="7C4DFF"/>
          </a:solidFill>
          <a:ln/>
        </p:spPr>
      </p:sp>
      <p:sp>
        <p:nvSpPr>
          <p:cNvPr id="23" name="Text 21"/>
          <p:cNvSpPr/>
          <p:nvPr/>
        </p:nvSpPr>
        <p:spPr>
          <a:xfrm>
            <a:off x="4846320" y="125272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C4DFF"/>
                </a:solidFill>
              </a:rPr>
              <a:t>■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093208" y="125272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74F"/>
                </a:solidFill>
              </a:rPr>
              <a:t>Azure Container Registry (Test)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846320" y="1609344"/>
            <a:ext cx="201168" cy="201168"/>
          </a:xfrm>
          <a:prstGeom prst="rect">
            <a:avLst/>
          </a:prstGeom>
          <a:solidFill>
            <a:srgbClr val="7C4DFF"/>
          </a:solidFill>
          <a:ln/>
        </p:spPr>
      </p:sp>
      <p:sp>
        <p:nvSpPr>
          <p:cNvPr id="26" name="Text 24"/>
          <p:cNvSpPr/>
          <p:nvPr/>
        </p:nvSpPr>
        <p:spPr>
          <a:xfrm>
            <a:off x="4846320" y="160934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C4DFF"/>
                </a:solidFill>
              </a:rPr>
              <a:t>■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5093208" y="160934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74F"/>
                </a:solidFill>
              </a:rPr>
              <a:t>App Service Plan (Test)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846320" y="1965960"/>
            <a:ext cx="201168" cy="201168"/>
          </a:xfrm>
          <a:prstGeom prst="rect">
            <a:avLst/>
          </a:prstGeom>
          <a:solidFill>
            <a:srgbClr val="7C4DFF"/>
          </a:solidFill>
          <a:ln/>
        </p:spPr>
      </p:sp>
      <p:sp>
        <p:nvSpPr>
          <p:cNvPr id="29" name="Text 27"/>
          <p:cNvSpPr/>
          <p:nvPr/>
        </p:nvSpPr>
        <p:spPr>
          <a:xfrm>
            <a:off x="4846320" y="196596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C4DFF"/>
                </a:solidFill>
              </a:rPr>
              <a:t>■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093208" y="19659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74F"/>
                </a:solidFill>
              </a:rPr>
              <a:t>Web App for Containers (Test)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846320" y="2322576"/>
            <a:ext cx="201168" cy="201168"/>
          </a:xfrm>
          <a:prstGeom prst="rect">
            <a:avLst/>
          </a:prstGeom>
          <a:solidFill>
            <a:srgbClr val="7C4DFF"/>
          </a:solidFill>
          <a:ln/>
        </p:spPr>
      </p:sp>
      <p:sp>
        <p:nvSpPr>
          <p:cNvPr id="32" name="Text 30"/>
          <p:cNvSpPr/>
          <p:nvPr/>
        </p:nvSpPr>
        <p:spPr>
          <a:xfrm>
            <a:off x="4846320" y="232257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C4DFF"/>
                </a:solidFill>
              </a:rPr>
              <a:t>■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093208" y="232257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74F"/>
                </a:solidFill>
              </a:rPr>
              <a:t>PostgreSQL Flexible Server (Test)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137160" y="2880360"/>
            <a:ext cx="429768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137160" y="2880360"/>
            <a:ext cx="4297680" cy="384048"/>
          </a:xfrm>
          <a:prstGeom prst="rect">
            <a:avLst/>
          </a:prstGeom>
          <a:solidFill>
            <a:srgbClr val="43A047"/>
          </a:solidFill>
          <a:ln/>
        </p:spPr>
      </p:sp>
      <p:sp>
        <p:nvSpPr>
          <p:cNvPr id="36" name="Text 34"/>
          <p:cNvSpPr/>
          <p:nvPr/>
        </p:nvSpPr>
        <p:spPr>
          <a:xfrm>
            <a:off x="228600" y="288036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📦  rg-petclinic-prod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74320" y="3355848"/>
            <a:ext cx="201168" cy="201168"/>
          </a:xfrm>
          <a:prstGeom prst="rect">
            <a:avLst/>
          </a:prstGeom>
          <a:solidFill>
            <a:srgbClr val="43A047"/>
          </a:solidFill>
          <a:ln/>
        </p:spPr>
      </p:sp>
      <p:sp>
        <p:nvSpPr>
          <p:cNvPr id="38" name="Text 36"/>
          <p:cNvSpPr/>
          <p:nvPr/>
        </p:nvSpPr>
        <p:spPr>
          <a:xfrm>
            <a:off x="274320" y="335584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3A047"/>
                </a:solidFill>
              </a:rPr>
              <a:t>■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21208" y="335584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74F"/>
                </a:solidFill>
              </a:rPr>
              <a:t>Azure Container Registry (Prod)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274320" y="3712464"/>
            <a:ext cx="201168" cy="201168"/>
          </a:xfrm>
          <a:prstGeom prst="rect">
            <a:avLst/>
          </a:prstGeom>
          <a:solidFill>
            <a:srgbClr val="43A047"/>
          </a:solidFill>
          <a:ln/>
        </p:spPr>
      </p:sp>
      <p:sp>
        <p:nvSpPr>
          <p:cNvPr id="41" name="Text 39"/>
          <p:cNvSpPr/>
          <p:nvPr/>
        </p:nvSpPr>
        <p:spPr>
          <a:xfrm>
            <a:off x="274320" y="371246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3A047"/>
                </a:solidFill>
              </a:rPr>
              <a:t>■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521208" y="371246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74F"/>
                </a:solidFill>
              </a:rPr>
              <a:t>App Service Plan (Prod)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274320" y="4069080"/>
            <a:ext cx="201168" cy="201168"/>
          </a:xfrm>
          <a:prstGeom prst="rect">
            <a:avLst/>
          </a:prstGeom>
          <a:solidFill>
            <a:srgbClr val="43A047"/>
          </a:solidFill>
          <a:ln/>
        </p:spPr>
      </p:sp>
      <p:sp>
        <p:nvSpPr>
          <p:cNvPr id="44" name="Text 42"/>
          <p:cNvSpPr/>
          <p:nvPr/>
        </p:nvSpPr>
        <p:spPr>
          <a:xfrm>
            <a:off x="274320" y="406908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3A047"/>
                </a:solidFill>
              </a:rPr>
              <a:t>■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521208" y="40690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74F"/>
                </a:solidFill>
              </a:rPr>
              <a:t>Web App for Containers (Prod)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274320" y="4425696"/>
            <a:ext cx="201168" cy="201168"/>
          </a:xfrm>
          <a:prstGeom prst="rect">
            <a:avLst/>
          </a:prstGeom>
          <a:solidFill>
            <a:srgbClr val="43A047"/>
          </a:solidFill>
          <a:ln/>
        </p:spPr>
      </p:sp>
      <p:sp>
        <p:nvSpPr>
          <p:cNvPr id="47" name="Text 45"/>
          <p:cNvSpPr/>
          <p:nvPr/>
        </p:nvSpPr>
        <p:spPr>
          <a:xfrm>
            <a:off x="274320" y="442569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3A047"/>
                </a:solidFill>
              </a:rPr>
              <a:t>■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521208" y="442569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74F"/>
                </a:solidFill>
              </a:rPr>
              <a:t>PostgreSQL Flexible Server (Prod)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4709160" y="2880360"/>
            <a:ext cx="429768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4709160" y="2880360"/>
            <a:ext cx="4297680" cy="384048"/>
          </a:xfrm>
          <a:prstGeom prst="rect">
            <a:avLst/>
          </a:prstGeom>
          <a:solidFill>
            <a:srgbClr val="E8832A"/>
          </a:solidFill>
          <a:ln/>
        </p:spPr>
      </p:sp>
      <p:sp>
        <p:nvSpPr>
          <p:cNvPr id="51" name="Text 49"/>
          <p:cNvSpPr/>
          <p:nvPr/>
        </p:nvSpPr>
        <p:spPr>
          <a:xfrm>
            <a:off x="4800600" y="288036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📦  rg-sonarqube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4846320" y="3355848"/>
            <a:ext cx="201168" cy="201168"/>
          </a:xfrm>
          <a:prstGeom prst="rect">
            <a:avLst/>
          </a:prstGeom>
          <a:solidFill>
            <a:srgbClr val="E8832A"/>
          </a:solidFill>
          <a:ln/>
        </p:spPr>
      </p:sp>
      <p:sp>
        <p:nvSpPr>
          <p:cNvPr id="53" name="Text 51"/>
          <p:cNvSpPr/>
          <p:nvPr/>
        </p:nvSpPr>
        <p:spPr>
          <a:xfrm>
            <a:off x="4846320" y="335584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8832A"/>
                </a:solidFill>
              </a:rPr>
              <a:t>■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5093208" y="335584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74F"/>
                </a:solidFill>
              </a:rPr>
              <a:t>App Service Plan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4846320" y="3712464"/>
            <a:ext cx="201168" cy="201168"/>
          </a:xfrm>
          <a:prstGeom prst="rect">
            <a:avLst/>
          </a:prstGeom>
          <a:solidFill>
            <a:srgbClr val="E8832A"/>
          </a:solidFill>
          <a:ln/>
        </p:spPr>
      </p:sp>
      <p:sp>
        <p:nvSpPr>
          <p:cNvPr id="56" name="Text 54"/>
          <p:cNvSpPr/>
          <p:nvPr/>
        </p:nvSpPr>
        <p:spPr>
          <a:xfrm>
            <a:off x="4846320" y="371246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8832A"/>
                </a:solidFill>
              </a:rPr>
              <a:t>■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5093208" y="3712464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74F"/>
                </a:solidFill>
              </a:rPr>
              <a:t>Web App (SonarQube CE)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4846320" y="4069080"/>
            <a:ext cx="201168" cy="201168"/>
          </a:xfrm>
          <a:prstGeom prst="rect">
            <a:avLst/>
          </a:prstGeom>
          <a:solidFill>
            <a:srgbClr val="E8832A"/>
          </a:solidFill>
          <a:ln/>
        </p:spPr>
      </p:sp>
      <p:sp>
        <p:nvSpPr>
          <p:cNvPr id="59" name="Text 57"/>
          <p:cNvSpPr/>
          <p:nvPr/>
        </p:nvSpPr>
        <p:spPr>
          <a:xfrm>
            <a:off x="4846320" y="406908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8832A"/>
                </a:solidFill>
              </a:rPr>
              <a:t>■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5093208" y="40690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74F"/>
                </a:solidFill>
              </a:rPr>
              <a:t>PostgreSQL for SonarQube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4846320" y="4425696"/>
            <a:ext cx="201168" cy="201168"/>
          </a:xfrm>
          <a:prstGeom prst="rect">
            <a:avLst/>
          </a:prstGeom>
          <a:solidFill>
            <a:srgbClr val="E8832A"/>
          </a:solidFill>
          <a:ln/>
        </p:spPr>
      </p:sp>
      <p:sp>
        <p:nvSpPr>
          <p:cNvPr id="62" name="Text 60"/>
          <p:cNvSpPr/>
          <p:nvPr/>
        </p:nvSpPr>
        <p:spPr>
          <a:xfrm>
            <a:off x="4846320" y="442569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8832A"/>
                </a:solidFill>
              </a:rPr>
              <a:t>■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5093208" y="442569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74F"/>
                </a:solidFill>
              </a:rPr>
              <a:t>Networking &amp; Config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137160" y="4617720"/>
            <a:ext cx="8869680" cy="41148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65" name="Text 63"/>
          <p:cNvSpPr/>
          <p:nvPr/>
        </p:nvSpPr>
        <p:spPr>
          <a:xfrm>
            <a:off x="274320" y="461772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🚀  Deploy via Azure Portal (ARM Template) or Azure Cloud Shell bash script  →  petclinic-infra.json / petclinic-infra.sh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37474F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Service Connections: Pipeline Authorization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82880" y="822960"/>
            <a:ext cx="2011680" cy="3474720"/>
          </a:xfrm>
          <a:prstGeom prst="rect">
            <a:avLst/>
          </a:prstGeom>
          <a:solidFill>
            <a:srgbClr val="0F346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82880" y="1188720"/>
            <a:ext cx="2011680" cy="13716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⚙️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Azure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DevOps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Pipeline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12848" y="1170432"/>
            <a:ext cx="914400" cy="36576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7" name="Shape 5"/>
          <p:cNvSpPr/>
          <p:nvPr/>
        </p:nvSpPr>
        <p:spPr>
          <a:xfrm>
            <a:off x="3154680" y="822960"/>
            <a:ext cx="580644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154680" y="822960"/>
            <a:ext cx="73152" cy="658368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9" name="Text 7"/>
          <p:cNvSpPr/>
          <p:nvPr/>
        </p:nvSpPr>
        <p:spPr>
          <a:xfrm>
            <a:off x="3291840" y="84124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78D4"/>
                </a:solidFill>
              </a:rPr>
              <a:t>Azure-Subscription-Conn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91840" y="1133856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</a:rPr>
              <a:t>Type: Azure Resource Manager   →   Azure Subscription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212848" y="1901952"/>
            <a:ext cx="914400" cy="36576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2" name="Shape 10"/>
          <p:cNvSpPr/>
          <p:nvPr/>
        </p:nvSpPr>
        <p:spPr>
          <a:xfrm>
            <a:off x="3154680" y="1554480"/>
            <a:ext cx="580644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54680" y="1554480"/>
            <a:ext cx="73152" cy="65836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4" name="Text 12"/>
          <p:cNvSpPr/>
          <p:nvPr/>
        </p:nvSpPr>
        <p:spPr>
          <a:xfrm>
            <a:off x="3291840" y="157276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</a:rPr>
              <a:t>dev-acr-service-connection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291840" y="1865376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</a:rPr>
              <a:t>Type: Docker Registry   →   Dev ACR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212848" y="2633472"/>
            <a:ext cx="914400" cy="36576"/>
          </a:xfrm>
          <a:prstGeom prst="rect">
            <a:avLst/>
          </a:prstGeom>
          <a:solidFill>
            <a:srgbClr val="7C4DFF"/>
          </a:solidFill>
          <a:ln/>
        </p:spPr>
      </p:sp>
      <p:sp>
        <p:nvSpPr>
          <p:cNvPr id="17" name="Shape 15"/>
          <p:cNvSpPr/>
          <p:nvPr/>
        </p:nvSpPr>
        <p:spPr>
          <a:xfrm>
            <a:off x="3154680" y="2286000"/>
            <a:ext cx="580644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154680" y="2286000"/>
            <a:ext cx="73152" cy="658368"/>
          </a:xfrm>
          <a:prstGeom prst="rect">
            <a:avLst/>
          </a:prstGeom>
          <a:solidFill>
            <a:srgbClr val="7C4DFF"/>
          </a:solidFill>
          <a:ln/>
        </p:spPr>
      </p:sp>
      <p:sp>
        <p:nvSpPr>
          <p:cNvPr id="19" name="Text 17"/>
          <p:cNvSpPr/>
          <p:nvPr/>
        </p:nvSpPr>
        <p:spPr>
          <a:xfrm>
            <a:off x="3291840" y="230428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4DFF"/>
                </a:solidFill>
              </a:rPr>
              <a:t>test-acr-service-connection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291840" y="2596896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</a:rPr>
              <a:t>Type: Docker Registry   →   Test ACR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212848" y="3364992"/>
            <a:ext cx="914400" cy="36576"/>
          </a:xfrm>
          <a:prstGeom prst="rect">
            <a:avLst/>
          </a:prstGeom>
          <a:solidFill>
            <a:srgbClr val="43A047"/>
          </a:solidFill>
          <a:ln/>
        </p:spPr>
      </p:sp>
      <p:sp>
        <p:nvSpPr>
          <p:cNvPr id="22" name="Shape 20"/>
          <p:cNvSpPr/>
          <p:nvPr/>
        </p:nvSpPr>
        <p:spPr>
          <a:xfrm>
            <a:off x="3154680" y="3017520"/>
            <a:ext cx="580644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154680" y="3017520"/>
            <a:ext cx="73152" cy="658368"/>
          </a:xfrm>
          <a:prstGeom prst="rect">
            <a:avLst/>
          </a:prstGeom>
          <a:solidFill>
            <a:srgbClr val="43A047"/>
          </a:solidFill>
          <a:ln/>
        </p:spPr>
      </p:sp>
      <p:sp>
        <p:nvSpPr>
          <p:cNvPr id="24" name="Text 22"/>
          <p:cNvSpPr/>
          <p:nvPr/>
        </p:nvSpPr>
        <p:spPr>
          <a:xfrm>
            <a:off x="3291840" y="303580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3A047"/>
                </a:solidFill>
              </a:rPr>
              <a:t>prod-acr-service-connection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291840" y="3328416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</a:rPr>
              <a:t>Type: Docker Registry   →   Prod ACR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212848" y="4096512"/>
            <a:ext cx="914400" cy="36576"/>
          </a:xfrm>
          <a:prstGeom prst="rect">
            <a:avLst/>
          </a:prstGeom>
          <a:solidFill>
            <a:srgbClr val="E8832A"/>
          </a:solidFill>
          <a:ln/>
        </p:spPr>
      </p:sp>
      <p:sp>
        <p:nvSpPr>
          <p:cNvPr id="27" name="Shape 25"/>
          <p:cNvSpPr/>
          <p:nvPr/>
        </p:nvSpPr>
        <p:spPr>
          <a:xfrm>
            <a:off x="3154680" y="3749040"/>
            <a:ext cx="580644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154680" y="3749040"/>
            <a:ext cx="73152" cy="658368"/>
          </a:xfrm>
          <a:prstGeom prst="rect">
            <a:avLst/>
          </a:prstGeom>
          <a:solidFill>
            <a:srgbClr val="E8832A"/>
          </a:solidFill>
          <a:ln/>
        </p:spPr>
      </p:sp>
      <p:sp>
        <p:nvSpPr>
          <p:cNvPr id="29" name="Text 27"/>
          <p:cNvSpPr/>
          <p:nvPr/>
        </p:nvSpPr>
        <p:spPr>
          <a:xfrm>
            <a:off x="3291840" y="376732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832A"/>
                </a:solidFill>
              </a:rPr>
              <a:t>sonarqube-service-connection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291840" y="4059936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7474F"/>
                </a:solidFill>
              </a:rPr>
              <a:t>Type: SonarQube   →   SonarQube App Service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182880" y="4617720"/>
            <a:ext cx="8869680" cy="411480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2" name="Text 30"/>
          <p:cNvSpPr/>
          <p:nvPr/>
        </p:nvSpPr>
        <p:spPr>
          <a:xfrm>
            <a:off x="320040" y="4617720"/>
            <a:ext cx="8595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📍  Navigate to: Project Settings → Service connections → New service connection to create each connection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Stage Dependencies: How the Pipeline Chains Together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228600" y="777240"/>
            <a:ext cx="5029200" cy="566928"/>
          </a:xfrm>
          <a:prstGeom prst="rect">
            <a:avLst/>
          </a:prstGeom>
          <a:solidFill>
            <a:srgbClr val="0078D4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77724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Build Stage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429000" y="777240"/>
            <a:ext cx="173736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FFFFFF"/>
                </a:solidFill>
              </a:rPr>
              <a:t>Build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394960" y="832104"/>
            <a:ext cx="3566160" cy="219456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8" name="Text 6"/>
          <p:cNvSpPr/>
          <p:nvPr/>
        </p:nvSpPr>
        <p:spPr>
          <a:xfrm>
            <a:off x="5440680" y="83210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0AB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(none — auto-starts on trigger)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394960" y="1069848"/>
            <a:ext cx="3566160" cy="219456"/>
          </a:xfrm>
          <a:prstGeom prst="rect">
            <a:avLst/>
          </a:prstGeom>
          <a:solidFill>
            <a:srgbClr val="37474F"/>
          </a:solidFill>
          <a:ln/>
        </p:spPr>
      </p:sp>
      <p:sp>
        <p:nvSpPr>
          <p:cNvPr id="10" name="Text 8"/>
          <p:cNvSpPr/>
          <p:nvPr/>
        </p:nvSpPr>
        <p:spPr>
          <a:xfrm>
            <a:off x="5440680" y="1069848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3A0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514600" y="134416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78D4"/>
                </a:solidFill>
              </a:rPr>
              <a:t>▼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8600" y="1481328"/>
            <a:ext cx="5029200" cy="566928"/>
          </a:xfrm>
          <a:prstGeom prst="rect">
            <a:avLst/>
          </a:prstGeom>
          <a:solidFill>
            <a:srgbClr val="00B4D8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0040" y="1481328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Deploy to Development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429000" y="1481328"/>
            <a:ext cx="173736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FFFFFF"/>
                </a:solidFill>
              </a:rPr>
              <a:t>DeployDev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394960" y="1536192"/>
            <a:ext cx="3566160" cy="219456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16" name="Text 14"/>
          <p:cNvSpPr/>
          <p:nvPr/>
        </p:nvSpPr>
        <p:spPr>
          <a:xfrm>
            <a:off x="5440680" y="1536192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0AB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dependsOn: Build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394960" y="1773936"/>
            <a:ext cx="3566160" cy="219456"/>
          </a:xfrm>
          <a:prstGeom prst="rect">
            <a:avLst/>
          </a:prstGeom>
          <a:solidFill>
            <a:srgbClr val="37474F"/>
          </a:solidFill>
          <a:ln/>
        </p:spPr>
      </p:sp>
      <p:sp>
        <p:nvSpPr>
          <p:cNvPr id="18" name="Text 16"/>
          <p:cNvSpPr/>
          <p:nvPr/>
        </p:nvSpPr>
        <p:spPr>
          <a:xfrm>
            <a:off x="5440680" y="1773936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3A0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condition: succeeded()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514600" y="2048256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78D4"/>
                </a:solidFill>
              </a:rPr>
              <a:t>▼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28600" y="2185416"/>
            <a:ext cx="5029200" cy="566928"/>
          </a:xfrm>
          <a:prstGeom prst="rect">
            <a:avLst/>
          </a:prstGeom>
          <a:solidFill>
            <a:srgbClr val="FF6B35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20040" y="2185416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Manual Approval – Testing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429000" y="2185416"/>
            <a:ext cx="173736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FFFFFF"/>
                </a:solidFill>
              </a:rPr>
              <a:t>ApproveTesting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394960" y="2240280"/>
            <a:ext cx="3566160" cy="219456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24" name="Text 22"/>
          <p:cNvSpPr/>
          <p:nvPr/>
        </p:nvSpPr>
        <p:spPr>
          <a:xfrm>
            <a:off x="5440680" y="224028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0AB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dependsOn: DeployDev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394960" y="2478024"/>
            <a:ext cx="3566160" cy="219456"/>
          </a:xfrm>
          <a:prstGeom prst="rect">
            <a:avLst/>
          </a:prstGeom>
          <a:solidFill>
            <a:srgbClr val="37474F"/>
          </a:solidFill>
          <a:ln/>
        </p:spPr>
      </p:sp>
      <p:sp>
        <p:nvSpPr>
          <p:cNvPr id="26" name="Text 24"/>
          <p:cNvSpPr/>
          <p:nvPr/>
        </p:nvSpPr>
        <p:spPr>
          <a:xfrm>
            <a:off x="5440680" y="247802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3A0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condition: succeeded()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514600" y="275234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78D4"/>
                </a:solidFill>
              </a:rPr>
              <a:t>▼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28600" y="2889504"/>
            <a:ext cx="5029200" cy="566928"/>
          </a:xfrm>
          <a:prstGeom prst="rect">
            <a:avLst/>
          </a:prstGeom>
          <a:solidFill>
            <a:srgbClr val="7C4DFF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320040" y="2889504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Deploy to Testing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429000" y="2889504"/>
            <a:ext cx="173736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FFFFFF"/>
                </a:solidFill>
              </a:rPr>
              <a:t>DeployTest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394960" y="2944368"/>
            <a:ext cx="3566160" cy="219456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32" name="Text 30"/>
          <p:cNvSpPr/>
          <p:nvPr/>
        </p:nvSpPr>
        <p:spPr>
          <a:xfrm>
            <a:off x="5440680" y="2944368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0AB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dependsOn: ApproveTesting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394960" y="3182112"/>
            <a:ext cx="3566160" cy="219456"/>
          </a:xfrm>
          <a:prstGeom prst="rect">
            <a:avLst/>
          </a:prstGeom>
          <a:solidFill>
            <a:srgbClr val="37474F"/>
          </a:solidFill>
          <a:ln/>
        </p:spPr>
      </p:sp>
      <p:sp>
        <p:nvSpPr>
          <p:cNvPr id="34" name="Text 32"/>
          <p:cNvSpPr/>
          <p:nvPr/>
        </p:nvSpPr>
        <p:spPr>
          <a:xfrm>
            <a:off x="5440680" y="3182112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3A0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condition: succeeded()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514600" y="3456432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78D4"/>
                </a:solidFill>
              </a:rPr>
              <a:t>▼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28600" y="3593592"/>
            <a:ext cx="5029200" cy="566928"/>
          </a:xfrm>
          <a:prstGeom prst="rect">
            <a:avLst/>
          </a:prstGeom>
          <a:solidFill>
            <a:srgbClr val="FF6B35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320040" y="3593592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Manual Approval – Production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429000" y="3593592"/>
            <a:ext cx="173736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FFFFFF"/>
                </a:solidFill>
              </a:rPr>
              <a:t>ApproveProd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394960" y="3648456"/>
            <a:ext cx="3566160" cy="219456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40" name="Text 38"/>
          <p:cNvSpPr/>
          <p:nvPr/>
        </p:nvSpPr>
        <p:spPr>
          <a:xfrm>
            <a:off x="5440680" y="3648456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0AB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dependsOn: DeployTest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394960" y="3886200"/>
            <a:ext cx="3566160" cy="219456"/>
          </a:xfrm>
          <a:prstGeom prst="rect">
            <a:avLst/>
          </a:prstGeom>
          <a:solidFill>
            <a:srgbClr val="37474F"/>
          </a:solidFill>
          <a:ln/>
        </p:spPr>
      </p:sp>
      <p:sp>
        <p:nvSpPr>
          <p:cNvPr id="42" name="Text 40"/>
          <p:cNvSpPr/>
          <p:nvPr/>
        </p:nvSpPr>
        <p:spPr>
          <a:xfrm>
            <a:off x="5440680" y="388620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3A0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condition: succeeded()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2514600" y="416052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78D4"/>
                </a:solidFill>
              </a:rPr>
              <a:t>▼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28600" y="4297680"/>
            <a:ext cx="5029200" cy="566928"/>
          </a:xfrm>
          <a:prstGeom prst="rect">
            <a:avLst/>
          </a:prstGeom>
          <a:solidFill>
            <a:srgbClr val="43A047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320040" y="4297680"/>
            <a:ext cx="3108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Deploy to Production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3429000" y="4297680"/>
            <a:ext cx="173736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FFFFFF"/>
                </a:solidFill>
              </a:rPr>
              <a:t>DeployProd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5394960" y="4352544"/>
            <a:ext cx="3566160" cy="219456"/>
          </a:xfrm>
          <a:prstGeom prst="rect">
            <a:avLst/>
          </a:prstGeom>
          <a:solidFill>
            <a:srgbClr val="0A1628"/>
          </a:solidFill>
          <a:ln/>
        </p:spPr>
      </p:sp>
      <p:sp>
        <p:nvSpPr>
          <p:cNvPr id="48" name="Text 46"/>
          <p:cNvSpPr/>
          <p:nvPr/>
        </p:nvSpPr>
        <p:spPr>
          <a:xfrm>
            <a:off x="5440680" y="435254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0AB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dependsOn: ApproveProd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5394960" y="4590288"/>
            <a:ext cx="3566160" cy="219456"/>
          </a:xfrm>
          <a:prstGeom prst="rect">
            <a:avLst/>
          </a:prstGeom>
          <a:solidFill>
            <a:srgbClr val="37474F"/>
          </a:solidFill>
          <a:ln/>
        </p:spPr>
      </p:sp>
      <p:sp>
        <p:nvSpPr>
          <p:cNvPr id="50" name="Text 48"/>
          <p:cNvSpPr/>
          <p:nvPr/>
        </p:nvSpPr>
        <p:spPr>
          <a:xfrm>
            <a:off x="5440680" y="4590288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3A04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condition: succeeded()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Architecture at a Glance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0ABF1"/>
                </a:solidFill>
              </a:rPr>
              <a:t>Spring PetClinic  ·  Azure DevOps  ·  SonarQube  ·  Multi-ACR Promotion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82880" y="1298448"/>
            <a:ext cx="2057400" cy="1417320"/>
          </a:xfrm>
          <a:prstGeom prst="rect">
            <a:avLst/>
          </a:prstGeom>
          <a:solidFill>
            <a:srgbClr val="0F346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82880" y="1389888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📝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82880" y="1865376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0ABF1"/>
                </a:solidFill>
              </a:rPr>
              <a:t>Code Push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74320" y="2167128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0BEC5"/>
                </a:solidFill>
              </a:rPr>
              <a:t>Push to main branch triggers pipeline automatically via CI trigger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395728" y="1298448"/>
            <a:ext cx="2057400" cy="1417320"/>
          </a:xfrm>
          <a:prstGeom prst="rect">
            <a:avLst/>
          </a:prstGeom>
          <a:solidFill>
            <a:srgbClr val="0F346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395728" y="1389888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395728" y="1865376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0ABF1"/>
                </a:solidFill>
              </a:rPr>
              <a:t>SonarQube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487168" y="2167128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0BEC5"/>
                </a:solidFill>
              </a:rPr>
              <a:t>SAST analysis scans for bugs, vulnerabilities, and code smells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608576" y="1298448"/>
            <a:ext cx="2057400" cy="1417320"/>
          </a:xfrm>
          <a:prstGeom prst="rect">
            <a:avLst/>
          </a:prstGeom>
          <a:solidFill>
            <a:srgbClr val="0F346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08576" y="1389888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🐳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608576" y="1865376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0ABF1"/>
                </a:solidFill>
              </a:rPr>
              <a:t>Docker Build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00016" y="2167128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0BEC5"/>
                </a:solidFill>
              </a:rPr>
              <a:t>Image built once, tagged with Build.BuildId, pushed to Dev ACR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821424" y="1298448"/>
            <a:ext cx="2057400" cy="1417320"/>
          </a:xfrm>
          <a:prstGeom prst="rect">
            <a:avLst/>
          </a:prstGeom>
          <a:solidFill>
            <a:srgbClr val="0F346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821424" y="1389888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🚀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821424" y="1865376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0ABF1"/>
                </a:solidFill>
              </a:rPr>
              <a:t>Dev Deploy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912864" y="2167128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0BEC5"/>
                </a:solidFill>
              </a:rPr>
              <a:t>Auto-deployed to Dev App Service for initial verification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182880" y="2852928"/>
            <a:ext cx="2057400" cy="1417320"/>
          </a:xfrm>
          <a:prstGeom prst="rect">
            <a:avLst/>
          </a:prstGeom>
          <a:solidFill>
            <a:srgbClr val="0F346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82880" y="2944368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✅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82880" y="3419856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0ABF1"/>
                </a:solidFill>
              </a:rPr>
              <a:t>Gate 1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74320" y="3721608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0BEC5"/>
                </a:solidFill>
              </a:rPr>
              <a:t>24h manual approval required before promoting to Testing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395728" y="2852928"/>
            <a:ext cx="2057400" cy="1417320"/>
          </a:xfrm>
          <a:prstGeom prst="rect">
            <a:avLst/>
          </a:prstGeom>
          <a:solidFill>
            <a:srgbClr val="0F346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2395728" y="2944368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🧪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2395728" y="3419856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0ABF1"/>
                </a:solidFill>
              </a:rPr>
              <a:t>Test Promote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487168" y="3721608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0BEC5"/>
                </a:solidFill>
              </a:rPr>
              <a:t>Image copied Dev ACR → Test ACR, deployed to Test App Service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608576" y="2852928"/>
            <a:ext cx="2057400" cy="1417320"/>
          </a:xfrm>
          <a:prstGeom prst="rect">
            <a:avLst/>
          </a:prstGeom>
          <a:solidFill>
            <a:srgbClr val="0F346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4608576" y="2944368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✅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4608576" y="3419856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0ABF1"/>
                </a:solidFill>
              </a:rPr>
              <a:t>Gate 2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700016" y="3721608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0BEC5"/>
                </a:solidFill>
              </a:rPr>
              <a:t>24h manual approval required before promoting to Production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6821424" y="2852928"/>
            <a:ext cx="2057400" cy="1417320"/>
          </a:xfrm>
          <a:prstGeom prst="rect">
            <a:avLst/>
          </a:prstGeom>
          <a:solidFill>
            <a:srgbClr val="0F3460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821424" y="2944368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🏭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6821424" y="3419856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0ABF1"/>
                </a:solidFill>
              </a:rPr>
              <a:t>Prod Promote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912864" y="3721608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B0BEC5"/>
                </a:solidFill>
              </a:rPr>
              <a:t>Image copied Test ACR → Prod ACR, deployed to Production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0" y="4965192"/>
            <a:ext cx="9144000" cy="18288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8" name="Text 36"/>
          <p:cNvSpPr/>
          <p:nvPr/>
        </p:nvSpPr>
        <p:spPr>
          <a:xfrm>
            <a:off x="0" y="4965192"/>
            <a:ext cx="9144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FFFF"/>
                </a:solidFill>
              </a:rPr>
              <a:t>"Build Once. Promote Many. Trust the Gate."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Spring PetClinic Azure DevOps Pipeline</dc:title>
  <dc:subject>PptxGenJS Presentation</dc:subject>
  <dc:creator>PptxGenJS</dc:creator>
  <cp:lastModifiedBy>PptxGenJS</cp:lastModifiedBy>
  <cp:revision>1</cp:revision>
  <dcterms:created xsi:type="dcterms:W3CDTF">2026-02-21T16:47:18Z</dcterms:created>
  <dcterms:modified xsi:type="dcterms:W3CDTF">2026-02-21T16:47:18Z</dcterms:modified>
</cp:coreProperties>
</file>